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69" r:id="rId2"/>
    <p:sldId id="272" r:id="rId3"/>
    <p:sldId id="263" r:id="rId4"/>
    <p:sldId id="273" r:id="rId5"/>
    <p:sldId id="268" r:id="rId6"/>
    <p:sldId id="274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Ctyh4lFF7KwmzsY3HNEaBf5fE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D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1" autoAdjust="0"/>
    <p:restoredTop sz="94660"/>
  </p:normalViewPr>
  <p:slideViewPr>
    <p:cSldViewPr snapToGrid="0">
      <p:cViewPr varScale="1">
        <p:scale>
          <a:sx n="79" d="100"/>
          <a:sy n="79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preserve="1" userDrawn="1">
  <p:cSld name="1_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4;p1">
            <a:extLst>
              <a:ext uri="{FF2B5EF4-FFF2-40B4-BE49-F238E27FC236}">
                <a16:creationId xmlns:a16="http://schemas.microsoft.com/office/drawing/2014/main" id="{DB184DB6-4F9B-4F8A-AB37-876DCB06BE4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5;p1">
            <a:extLst>
              <a:ext uri="{FF2B5EF4-FFF2-40B4-BE49-F238E27FC236}">
                <a16:creationId xmlns:a16="http://schemas.microsoft.com/office/drawing/2014/main" id="{7D93A88E-FF93-4AC7-9916-FDB15B851A8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57863" y="5833664"/>
            <a:ext cx="797148" cy="795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6;p1">
            <a:extLst>
              <a:ext uri="{FF2B5EF4-FFF2-40B4-BE49-F238E27FC236}">
                <a16:creationId xmlns:a16="http://schemas.microsoft.com/office/drawing/2014/main" id="{9B49D059-7F2D-4A91-8393-B7E97F32C9A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198800" y="6109900"/>
            <a:ext cx="900934" cy="406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3A0914A2-A033-4472-BC46-460EC4A4837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8603" y="154519"/>
            <a:ext cx="1408664" cy="15463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4;p10">
            <a:extLst>
              <a:ext uri="{FF2B5EF4-FFF2-40B4-BE49-F238E27FC236}">
                <a16:creationId xmlns:a16="http://schemas.microsoft.com/office/drawing/2014/main" id="{086403E6-5A00-460B-83F5-43265EB91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82210" y="3086100"/>
            <a:ext cx="7186930" cy="16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1">
                <a:solidFill>
                  <a:srgbClr val="E5DF44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5;p10">
            <a:extLst>
              <a:ext uri="{FF2B5EF4-FFF2-40B4-BE49-F238E27FC236}">
                <a16:creationId xmlns:a16="http://schemas.microsoft.com/office/drawing/2014/main" id="{A4E7FDBE-EAD8-46AD-80F9-E47D2A071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72250" y="5691644"/>
            <a:ext cx="5394960" cy="1037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E5DF44"/>
                </a:solidFill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195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rgbClr val="002060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" panose="05000000000000000000" pitchFamily="2" charset="2"/>
              <a:buChar char="q"/>
              <a:defRPr>
                <a:solidFill>
                  <a:srgbClr val="002060"/>
                </a:solidFill>
                <a:latin typeface="+mj-l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" panose="05000000000000000000" pitchFamily="2" charset="2"/>
              <a:buChar char="§"/>
              <a:defRPr>
                <a:solidFill>
                  <a:srgbClr val="002060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lang="pt-BR" dirty="0"/>
          </a:p>
          <a:p>
            <a:endParaRPr lang="pt-BR" dirty="0"/>
          </a:p>
          <a:p>
            <a:pPr lvl="1"/>
            <a:endParaRPr dirty="0"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1">
                <a:solidFill>
                  <a:srgbClr val="002060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002060"/>
                </a:solidFill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14;p8"/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8" name="Google Shape;15;p8"/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rgbClr val="002060"/>
                </a:solidFill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q"/>
              <a:defRPr>
                <a:solidFill>
                  <a:srgbClr val="002060"/>
                </a:solidFill>
                <a:latin typeface="+mj-l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rgbClr val="002060"/>
                </a:solidFill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Wingdings" panose="05000000000000000000" pitchFamily="2" charset="2"/>
              <a:buChar char="q"/>
              <a:defRPr>
                <a:solidFill>
                  <a:srgbClr val="002060"/>
                </a:solidFill>
                <a:latin typeface="+mj-l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" name="Google Shape;14;p8">
            <a:extLst>
              <a:ext uri="{FF2B5EF4-FFF2-40B4-BE49-F238E27FC236}">
                <a16:creationId xmlns:a16="http://schemas.microsoft.com/office/drawing/2014/main" id="{266821CB-2B77-4D33-A7AA-0FA069FE747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11" name="Google Shape;15;p8">
            <a:extLst>
              <a:ext uri="{FF2B5EF4-FFF2-40B4-BE49-F238E27FC236}">
                <a16:creationId xmlns:a16="http://schemas.microsoft.com/office/drawing/2014/main" id="{E76457BB-520F-4E8C-86B5-0C5386C705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;p8">
            <a:extLst>
              <a:ext uri="{FF2B5EF4-FFF2-40B4-BE49-F238E27FC236}">
                <a16:creationId xmlns:a16="http://schemas.microsoft.com/office/drawing/2014/main" id="{BB9B059C-DE22-4F1E-9FC9-06D529BB7FA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6" name="Google Shape;15;p8">
            <a:extLst>
              <a:ext uri="{FF2B5EF4-FFF2-40B4-BE49-F238E27FC236}">
                <a16:creationId xmlns:a16="http://schemas.microsoft.com/office/drawing/2014/main" id="{64C9A16A-EE31-403C-9480-ED4BC2DB9F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2060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Wingdings" panose="05000000000000000000" pitchFamily="2" charset="2"/>
              <a:buChar char="q"/>
              <a:defRPr sz="3200">
                <a:solidFill>
                  <a:srgbClr val="002060"/>
                </a:solidFill>
                <a:latin typeface="+mj-lt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rgbClr val="002060"/>
                </a:solidFill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" name="Google Shape;14;p8">
            <a:extLst>
              <a:ext uri="{FF2B5EF4-FFF2-40B4-BE49-F238E27FC236}">
                <a16:creationId xmlns:a16="http://schemas.microsoft.com/office/drawing/2014/main" id="{78976C62-5850-434B-B21F-EAEE82AACD8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9" name="Google Shape;15;p8">
            <a:extLst>
              <a:ext uri="{FF2B5EF4-FFF2-40B4-BE49-F238E27FC236}">
                <a16:creationId xmlns:a16="http://schemas.microsoft.com/office/drawing/2014/main" id="{14FA6CF5-9A8A-47FC-8B17-6C9DABBBFC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2060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rgbClr val="002060"/>
                </a:solidFill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" name="Google Shape;14;p8">
            <a:extLst>
              <a:ext uri="{FF2B5EF4-FFF2-40B4-BE49-F238E27FC236}">
                <a16:creationId xmlns:a16="http://schemas.microsoft.com/office/drawing/2014/main" id="{43C25380-2024-4E5F-8AE5-6F46F4956DC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9" name="Google Shape;15;p8">
            <a:extLst>
              <a:ext uri="{FF2B5EF4-FFF2-40B4-BE49-F238E27FC236}">
                <a16:creationId xmlns:a16="http://schemas.microsoft.com/office/drawing/2014/main" id="{90C3196C-DEC6-4571-AB51-B82B304B04F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Wingdings" panose="05000000000000000000" pitchFamily="2" charset="2"/>
              <a:buChar char="q"/>
              <a:defRPr>
                <a:solidFill>
                  <a:srgbClr val="002060"/>
                </a:solidFill>
                <a:latin typeface="+mj-l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14;p8">
            <a:extLst>
              <a:ext uri="{FF2B5EF4-FFF2-40B4-BE49-F238E27FC236}">
                <a16:creationId xmlns:a16="http://schemas.microsoft.com/office/drawing/2014/main" id="{AFBD2860-735C-4572-8A0A-BC4081F6DC1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8" name="Google Shape;15;p8">
            <a:extLst>
              <a:ext uri="{FF2B5EF4-FFF2-40B4-BE49-F238E27FC236}">
                <a16:creationId xmlns:a16="http://schemas.microsoft.com/office/drawing/2014/main" id="{F3879CCE-379C-4D6B-857D-ED490F7A78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preserve="1" userDrawn="1">
  <p:cSld name="1_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;p8">
            <a:extLst>
              <a:ext uri="{FF2B5EF4-FFF2-40B4-BE49-F238E27FC236}">
                <a16:creationId xmlns:a16="http://schemas.microsoft.com/office/drawing/2014/main" id="{BB9B059C-DE22-4F1E-9FC9-06D529BB7FA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2194560" y="6356350"/>
            <a:ext cx="1533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sp>
        <p:nvSpPr>
          <p:cNvPr id="6" name="Google Shape;15;p8">
            <a:extLst>
              <a:ext uri="{FF2B5EF4-FFF2-40B4-BE49-F238E27FC236}">
                <a16:creationId xmlns:a16="http://schemas.microsoft.com/office/drawing/2014/main" id="{64C9A16A-EE31-403C-9480-ED4BC2DB9F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23360" y="6356350"/>
            <a:ext cx="6269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7AEFEA-299A-4F6C-A532-B4AA092B8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959C780-FAE0-46FE-BE8C-6F8328B649BE}"/>
              </a:ext>
            </a:extLst>
          </p:cNvPr>
          <p:cNvSpPr txBox="1"/>
          <p:nvPr userDrawn="1"/>
        </p:nvSpPr>
        <p:spPr>
          <a:xfrm>
            <a:off x="1398983" y="5683942"/>
            <a:ext cx="3479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16 99210.9371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B1C5D63-4F41-4380-8179-FC7DE830362E}"/>
              </a:ext>
            </a:extLst>
          </p:cNvPr>
          <p:cNvSpPr txBox="1"/>
          <p:nvPr userDrawn="1"/>
        </p:nvSpPr>
        <p:spPr>
          <a:xfrm>
            <a:off x="9504998" y="5683942"/>
            <a:ext cx="1688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mba-iabigdata</a:t>
            </a:r>
            <a:endPara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C7C48D-8DFF-4E83-A4A7-A2B1C1AEA653}"/>
              </a:ext>
            </a:extLst>
          </p:cNvPr>
          <p:cNvSpPr txBox="1"/>
          <p:nvPr userDrawn="1"/>
        </p:nvSpPr>
        <p:spPr>
          <a:xfrm>
            <a:off x="5414904" y="5676212"/>
            <a:ext cx="22811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MBAIABigDataUSP</a:t>
            </a:r>
            <a:endPara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277795-DF82-48BD-94BC-366DFC0A728D}"/>
              </a:ext>
            </a:extLst>
          </p:cNvPr>
          <p:cNvSpPr txBox="1"/>
          <p:nvPr userDrawn="1"/>
        </p:nvSpPr>
        <p:spPr>
          <a:xfrm>
            <a:off x="9504998" y="6018843"/>
            <a:ext cx="1672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mba.iabigdata</a:t>
            </a:r>
            <a:endPara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5A090C1-89D7-4136-9D55-F41219D96095}"/>
              </a:ext>
            </a:extLst>
          </p:cNvPr>
          <p:cNvSpPr txBox="1"/>
          <p:nvPr userDrawn="1"/>
        </p:nvSpPr>
        <p:spPr>
          <a:xfrm>
            <a:off x="1398983" y="6030226"/>
            <a:ext cx="3479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mba.iabigdata@icmc.usp.br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0C2E47E-0F51-4AC7-9587-C3FFA9F08C21}"/>
              </a:ext>
            </a:extLst>
          </p:cNvPr>
          <p:cNvSpPr txBox="1"/>
          <p:nvPr userDrawn="1"/>
        </p:nvSpPr>
        <p:spPr>
          <a:xfrm>
            <a:off x="5414904" y="6018843"/>
            <a:ext cx="2915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mba.iabigdata.icmc.usp.br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300329E-8E32-4A57-9607-5C203B3316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878" y="4294735"/>
            <a:ext cx="1082929" cy="108083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A9BE6D2-5409-4347-8A51-3720C241AC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283" y="4710529"/>
            <a:ext cx="1223923" cy="55198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9FC3547-6E68-4672-A595-1DCFC039F67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57" y="5724506"/>
            <a:ext cx="257426" cy="25742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E7A076EA-080F-437B-AEFF-D9000BF11C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614" y="5717472"/>
            <a:ext cx="236624" cy="236624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B40E527-A0F0-41EF-A781-A6C6A63E6B9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016" y="5752103"/>
            <a:ext cx="262627" cy="184619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2B0553C-1086-4B9B-988D-FAAA5CFB7F6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009" y="6125973"/>
            <a:ext cx="345835" cy="19762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C5D2B6F7-738B-4E3E-99D9-CD18D3DA367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04" y="6136375"/>
            <a:ext cx="240079" cy="187218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68BCDB95-6A82-4A64-8591-B5B85409CD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617" y="6092170"/>
            <a:ext cx="231423" cy="231423"/>
          </a:xfrm>
          <a:prstGeom prst="rect">
            <a:avLst/>
          </a:prstGeom>
        </p:spPr>
      </p:pic>
      <p:sp>
        <p:nvSpPr>
          <p:cNvPr id="23" name="Google Shape;24;p10">
            <a:extLst>
              <a:ext uri="{FF2B5EF4-FFF2-40B4-BE49-F238E27FC236}">
                <a16:creationId xmlns:a16="http://schemas.microsoft.com/office/drawing/2014/main" id="{160F7E8B-7133-4215-BC96-7269CB2AAC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0383" y="260632"/>
            <a:ext cx="9751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1">
                <a:solidFill>
                  <a:srgbClr val="E5DF44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050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2F5F2DC-AEB9-7338-C302-34CE8D3294C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0C0946D-94E8-4EA1-B1AE-EC1D9306ED5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488" y="6067271"/>
            <a:ext cx="616985" cy="61578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1FCCFD7-FE2C-4B34-A344-2B23B938191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0" y="6287708"/>
            <a:ext cx="653822" cy="294873"/>
          </a:xfrm>
          <a:prstGeom prst="rect">
            <a:avLst/>
          </a:prstGeom>
        </p:spPr>
      </p:pic>
      <p:sp>
        <p:nvSpPr>
          <p:cNvPr id="14" name="Google Shape;35;p11"/>
          <p:cNvSpPr txBox="1">
            <a:spLocks/>
          </p:cNvSpPr>
          <p:nvPr userDrawn="1"/>
        </p:nvSpPr>
        <p:spPr>
          <a:xfrm>
            <a:off x="-240425" y="6439598"/>
            <a:ext cx="686208" cy="38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1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D849C6B-A49E-4CFA-B2DF-7AAEEBD8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856" y="3086100"/>
            <a:ext cx="7987284" cy="2022348"/>
          </a:xfrm>
        </p:spPr>
        <p:txBody>
          <a:bodyPr>
            <a:noAutofit/>
          </a:bodyPr>
          <a:lstStyle/>
          <a:p>
            <a:r>
              <a:rPr lang="pt-BR" sz="4400" dirty="0"/>
              <a:t>MBA em Inteligência Artificial e Big Data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59650A7-D25F-421D-902D-EE01C3E7D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5088" y="5691644"/>
            <a:ext cx="3262122" cy="1037591"/>
          </a:xfrm>
        </p:spPr>
        <p:txBody>
          <a:bodyPr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E5DF44"/>
                </a:solidFill>
              </a:rPr>
              <a:t>Solange Rezende</a:t>
            </a:r>
            <a:endParaRPr lang="pt-BR" sz="2400" b="1" i="1" dirty="0">
              <a:solidFill>
                <a:srgbClr val="E5DF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74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BFC15A8-57FB-454E-88A3-8FA5315D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seguir alguns exemplos de slides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87939DE-527D-4B74-ABFD-4658551FA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22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589B0-8E05-75F6-8196-2534BB3F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0D8612C-6D39-2BB7-58AE-2584C94D1F33}"/>
              </a:ext>
            </a:extLst>
          </p:cNvPr>
          <p:cNvSpPr txBox="1"/>
          <p:nvPr/>
        </p:nvSpPr>
        <p:spPr>
          <a:xfrm>
            <a:off x="222249" y="383801"/>
            <a:ext cx="117475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MBA em Inteligência Artificial e </a:t>
            </a:r>
            <a:r>
              <a:rPr lang="pt-BR" sz="4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BigData</a:t>
            </a:r>
            <a:endParaRPr lang="pt-BR" sz="4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0A0428D-380C-A718-3DE3-8DDB8C3837EF}"/>
              </a:ext>
            </a:extLst>
          </p:cNvPr>
          <p:cNvSpPr txBox="1"/>
          <p:nvPr/>
        </p:nvSpPr>
        <p:spPr>
          <a:xfrm>
            <a:off x="364067" y="1814175"/>
            <a:ext cx="38523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Especialização</a:t>
            </a:r>
          </a:p>
          <a:p>
            <a:r>
              <a:rPr lang="pt-BR" sz="4400" b="1" dirty="0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 online</a:t>
            </a:r>
          </a:p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400 horas</a:t>
            </a:r>
            <a:endParaRPr lang="pt-BR" b="1" dirty="0">
              <a:solidFill>
                <a:srgbClr val="173B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23D83155-953E-091F-EDA1-A7D024339A74}"/>
              </a:ext>
            </a:extLst>
          </p:cNvPr>
          <p:cNvCxnSpPr>
            <a:cxnSpLocks/>
          </p:cNvCxnSpPr>
          <p:nvPr/>
        </p:nvCxnSpPr>
        <p:spPr>
          <a:xfrm>
            <a:off x="3979333" y="1701800"/>
            <a:ext cx="0" cy="4334933"/>
          </a:xfrm>
          <a:prstGeom prst="line">
            <a:avLst/>
          </a:prstGeom>
          <a:ln w="19050">
            <a:solidFill>
              <a:srgbClr val="E5DF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0659964-1A36-AC99-C75D-990E5E124A4A}"/>
              </a:ext>
            </a:extLst>
          </p:cNvPr>
          <p:cNvSpPr txBox="1"/>
          <p:nvPr/>
        </p:nvSpPr>
        <p:spPr>
          <a:xfrm>
            <a:off x="355601" y="3660833"/>
            <a:ext cx="2899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430 horas com disciplinas opcionais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74E3FE9-8BF0-53E7-5261-9DB5FAF0731A}"/>
              </a:ext>
            </a:extLst>
          </p:cNvPr>
          <p:cNvSpPr txBox="1"/>
          <p:nvPr/>
        </p:nvSpPr>
        <p:spPr>
          <a:xfrm>
            <a:off x="4284134" y="1814174"/>
            <a:ext cx="35221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Criado em 2021 pelo </a:t>
            </a:r>
            <a:r>
              <a:rPr lang="pt-BR" sz="2000" b="1" dirty="0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 de Ciências de Computação do ICMC/USP </a:t>
            </a: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usando como diferencial a habilidade nessas duas áreas</a:t>
            </a:r>
          </a:p>
          <a:p>
            <a:endParaRPr lang="pt-BR" sz="2000" b="1" dirty="0">
              <a:solidFill>
                <a:srgbClr val="173B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Comissão responsável pela proposta: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Caetano Traina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Moacir Ponti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Roseli Romero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Rudinei Goulart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Solange Rezende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D5D02F1-A9F0-69E8-DA33-5129EB769E01}"/>
              </a:ext>
            </a:extLst>
          </p:cNvPr>
          <p:cNvSpPr txBox="1"/>
          <p:nvPr/>
        </p:nvSpPr>
        <p:spPr>
          <a:xfrm>
            <a:off x="8314268" y="1814173"/>
            <a:ext cx="35221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Motivação</a:t>
            </a:r>
          </a:p>
          <a:p>
            <a:r>
              <a:rPr lang="pt-BR" sz="2000" b="1" dirty="0">
                <a:solidFill>
                  <a:srgbClr val="0174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 do Mercado </a:t>
            </a:r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profissionais bem qualificados</a:t>
            </a:r>
          </a:p>
          <a:p>
            <a:endParaRPr lang="pt-BR" sz="2000" b="1" dirty="0">
              <a:solidFill>
                <a:srgbClr val="173B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FEBEFE5B-A978-7F56-D782-BD35B8B06018}"/>
              </a:ext>
            </a:extLst>
          </p:cNvPr>
          <p:cNvCxnSpPr>
            <a:cxnSpLocks/>
          </p:cNvCxnSpPr>
          <p:nvPr/>
        </p:nvCxnSpPr>
        <p:spPr>
          <a:xfrm>
            <a:off x="8017933" y="1701800"/>
            <a:ext cx="0" cy="4334933"/>
          </a:xfrm>
          <a:prstGeom prst="line">
            <a:avLst/>
          </a:prstGeom>
          <a:ln w="19050">
            <a:solidFill>
              <a:srgbClr val="E5DF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42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5">
            <a:extLst>
              <a:ext uri="{FF2B5EF4-FFF2-40B4-BE49-F238E27FC236}">
                <a16:creationId xmlns:a16="http://schemas.microsoft.com/office/drawing/2014/main" id="{A5336FEE-8EF8-6144-F23B-626C9D26E999}"/>
              </a:ext>
            </a:extLst>
          </p:cNvPr>
          <p:cNvSpPr txBox="1"/>
          <p:nvPr/>
        </p:nvSpPr>
        <p:spPr>
          <a:xfrm>
            <a:off x="444499" y="186534"/>
            <a:ext cx="117475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Coordenação e Comitê Gestor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7CBBDA2-00BE-9BB7-0948-65021B18ADE9}"/>
              </a:ext>
            </a:extLst>
          </p:cNvPr>
          <p:cNvSpPr/>
          <p:nvPr/>
        </p:nvSpPr>
        <p:spPr>
          <a:xfrm>
            <a:off x="516467" y="1728387"/>
            <a:ext cx="1905000" cy="19050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C82678D-11CC-EC90-020C-941F5EFE768C}"/>
              </a:ext>
            </a:extLst>
          </p:cNvPr>
          <p:cNvSpPr/>
          <p:nvPr/>
        </p:nvSpPr>
        <p:spPr>
          <a:xfrm>
            <a:off x="516467" y="4090587"/>
            <a:ext cx="1905000" cy="19050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7" name="CaixaDeTexto 9">
            <a:extLst>
              <a:ext uri="{FF2B5EF4-FFF2-40B4-BE49-F238E27FC236}">
                <a16:creationId xmlns:a16="http://schemas.microsoft.com/office/drawing/2014/main" id="{8D8BB455-82C4-8B9E-3177-870674A23816}"/>
              </a:ext>
            </a:extLst>
          </p:cNvPr>
          <p:cNvSpPr txBox="1"/>
          <p:nvPr/>
        </p:nvSpPr>
        <p:spPr>
          <a:xfrm>
            <a:off x="2523067" y="2357721"/>
            <a:ext cx="2091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Solange Rezende</a:t>
            </a:r>
          </a:p>
          <a:p>
            <a:r>
              <a:rPr lang="pt-BR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Coordenadora</a:t>
            </a:r>
            <a:endParaRPr lang="pt-BR" dirty="0"/>
          </a:p>
        </p:txBody>
      </p:sp>
      <p:sp>
        <p:nvSpPr>
          <p:cNvPr id="8" name="CaixaDeTexto 10">
            <a:extLst>
              <a:ext uri="{FF2B5EF4-FFF2-40B4-BE49-F238E27FC236}">
                <a16:creationId xmlns:a16="http://schemas.microsoft.com/office/drawing/2014/main" id="{27E57011-37E0-2E6C-225D-2FF7BF0D7C42}"/>
              </a:ext>
            </a:extLst>
          </p:cNvPr>
          <p:cNvSpPr txBox="1"/>
          <p:nvPr/>
        </p:nvSpPr>
        <p:spPr>
          <a:xfrm>
            <a:off x="2523067" y="4719921"/>
            <a:ext cx="226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Roseli Romero</a:t>
            </a:r>
          </a:p>
          <a:p>
            <a:r>
              <a:rPr lang="pt-BR" dirty="0" err="1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Vice-Coordenadora</a:t>
            </a:r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3D801AF-7098-88D9-53D1-E826825C9977}"/>
              </a:ext>
            </a:extLst>
          </p:cNvPr>
          <p:cNvSpPr/>
          <p:nvPr/>
        </p:nvSpPr>
        <p:spPr>
          <a:xfrm>
            <a:off x="5139268" y="1796119"/>
            <a:ext cx="1227666" cy="1227666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37091AA-70CA-794F-4935-CC4B4504CA75}"/>
              </a:ext>
            </a:extLst>
          </p:cNvPr>
          <p:cNvSpPr/>
          <p:nvPr/>
        </p:nvSpPr>
        <p:spPr>
          <a:xfrm>
            <a:off x="5168901" y="3613652"/>
            <a:ext cx="1227666" cy="1227666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D6F58D1-E96C-F44C-13D8-4E4EC1D06FDA}"/>
              </a:ext>
            </a:extLst>
          </p:cNvPr>
          <p:cNvSpPr/>
          <p:nvPr/>
        </p:nvSpPr>
        <p:spPr>
          <a:xfrm>
            <a:off x="8470902" y="1796119"/>
            <a:ext cx="1227666" cy="1227666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F3FE81C-59C6-AABD-0CE4-2F067714DDF6}"/>
              </a:ext>
            </a:extLst>
          </p:cNvPr>
          <p:cNvSpPr/>
          <p:nvPr/>
        </p:nvSpPr>
        <p:spPr>
          <a:xfrm>
            <a:off x="8500535" y="3613652"/>
            <a:ext cx="1227666" cy="1227666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/>
          </a:p>
        </p:txBody>
      </p:sp>
      <p:sp>
        <p:nvSpPr>
          <p:cNvPr id="13" name="CaixaDeTexto 21">
            <a:extLst>
              <a:ext uri="{FF2B5EF4-FFF2-40B4-BE49-F238E27FC236}">
                <a16:creationId xmlns:a16="http://schemas.microsoft.com/office/drawing/2014/main" id="{B3B57A25-A9BA-949B-2122-9835A8099830}"/>
              </a:ext>
            </a:extLst>
          </p:cNvPr>
          <p:cNvSpPr txBox="1"/>
          <p:nvPr/>
        </p:nvSpPr>
        <p:spPr>
          <a:xfrm>
            <a:off x="6396567" y="2086786"/>
            <a:ext cx="168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Caetano Traina Júnior</a:t>
            </a:r>
            <a:endParaRPr lang="pt-BR" sz="1200" b="1" dirty="0"/>
          </a:p>
        </p:txBody>
      </p:sp>
      <p:sp>
        <p:nvSpPr>
          <p:cNvPr id="14" name="CaixaDeTexto 24">
            <a:extLst>
              <a:ext uri="{FF2B5EF4-FFF2-40B4-BE49-F238E27FC236}">
                <a16:creationId xmlns:a16="http://schemas.microsoft.com/office/drawing/2014/main" id="{1970E092-6CDD-3D09-3AE2-001378D4CD95}"/>
              </a:ext>
            </a:extLst>
          </p:cNvPr>
          <p:cNvSpPr txBox="1"/>
          <p:nvPr/>
        </p:nvSpPr>
        <p:spPr>
          <a:xfrm>
            <a:off x="6426201" y="3911866"/>
            <a:ext cx="1689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José Fernando Rodrigues Júnior</a:t>
            </a:r>
            <a:endParaRPr lang="pt-BR" sz="1200" b="1" dirty="0"/>
          </a:p>
        </p:txBody>
      </p:sp>
      <p:sp>
        <p:nvSpPr>
          <p:cNvPr id="15" name="CaixaDeTexto 25">
            <a:extLst>
              <a:ext uri="{FF2B5EF4-FFF2-40B4-BE49-F238E27FC236}">
                <a16:creationId xmlns:a16="http://schemas.microsoft.com/office/drawing/2014/main" id="{5CC4679A-1F39-0765-8E7F-E562684888EA}"/>
              </a:ext>
            </a:extLst>
          </p:cNvPr>
          <p:cNvSpPr txBox="1"/>
          <p:nvPr/>
        </p:nvSpPr>
        <p:spPr>
          <a:xfrm>
            <a:off x="9728201" y="2145474"/>
            <a:ext cx="1507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Rudinei </a:t>
            </a:r>
            <a:r>
              <a:rPr lang="pt-BR" sz="1200" b="1" dirty="0" err="1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Goularte</a:t>
            </a:r>
            <a:endParaRPr lang="pt-BR" sz="1200" b="1" dirty="0"/>
          </a:p>
        </p:txBody>
      </p:sp>
      <p:sp>
        <p:nvSpPr>
          <p:cNvPr id="16" name="CaixaDeTexto 26">
            <a:extLst>
              <a:ext uri="{FF2B5EF4-FFF2-40B4-BE49-F238E27FC236}">
                <a16:creationId xmlns:a16="http://schemas.microsoft.com/office/drawing/2014/main" id="{DD570640-80E4-693D-C900-1478B199AECF}"/>
              </a:ext>
            </a:extLst>
          </p:cNvPr>
          <p:cNvSpPr txBox="1"/>
          <p:nvPr/>
        </p:nvSpPr>
        <p:spPr>
          <a:xfrm>
            <a:off x="9757835" y="3911865"/>
            <a:ext cx="2002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Thiago Alexandre Salgueiro Pardo</a:t>
            </a:r>
            <a:endParaRPr lang="pt-BR" sz="1200" b="1" dirty="0"/>
          </a:p>
        </p:txBody>
      </p:sp>
      <p:sp>
        <p:nvSpPr>
          <p:cNvPr id="17" name="CaixaDeTexto 31">
            <a:extLst>
              <a:ext uri="{FF2B5EF4-FFF2-40B4-BE49-F238E27FC236}">
                <a16:creationId xmlns:a16="http://schemas.microsoft.com/office/drawing/2014/main" id="{53FCB8D7-E789-707C-4D4A-92A2B301F70F}"/>
              </a:ext>
            </a:extLst>
          </p:cNvPr>
          <p:cNvSpPr txBox="1"/>
          <p:nvPr/>
        </p:nvSpPr>
        <p:spPr>
          <a:xfrm>
            <a:off x="6396568" y="5825080"/>
            <a:ext cx="168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Ricardo </a:t>
            </a:r>
            <a:r>
              <a:rPr lang="pt-BR" sz="1200" b="1" dirty="0" err="1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Marcacini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08510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C91E6-1A7D-DAC6-D87F-A5E2FD3E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36E571C-AA19-94CD-ABF8-FC9096DF7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286" y="1021660"/>
            <a:ext cx="4744468" cy="5188078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8C0B6E-B0AA-5427-AA6B-DA6DD9CCD126}"/>
              </a:ext>
            </a:extLst>
          </p:cNvPr>
          <p:cNvSpPr txBox="1"/>
          <p:nvPr/>
        </p:nvSpPr>
        <p:spPr>
          <a:xfrm>
            <a:off x="2110908" y="681776"/>
            <a:ext cx="755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E5DF44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A984AD3-4012-B7D2-A6EB-AFA379EE576A}"/>
              </a:ext>
            </a:extLst>
          </p:cNvPr>
          <p:cNvSpPr txBox="1"/>
          <p:nvPr/>
        </p:nvSpPr>
        <p:spPr>
          <a:xfrm>
            <a:off x="2639116" y="764886"/>
            <a:ext cx="30284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Coordenação e Vice Coordenação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E70A932-ADE7-30D2-C218-F9551A3B5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116" y="1072664"/>
            <a:ext cx="3249745" cy="206220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07D93B09-0E8A-1C04-8D90-82E940F6F654}"/>
              </a:ext>
            </a:extLst>
          </p:cNvPr>
          <p:cNvSpPr txBox="1"/>
          <p:nvPr/>
        </p:nvSpPr>
        <p:spPr>
          <a:xfrm>
            <a:off x="8657818" y="1356088"/>
            <a:ext cx="755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E5DF44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06B09BC-9E41-5338-34D9-E260930E4056}"/>
              </a:ext>
            </a:extLst>
          </p:cNvPr>
          <p:cNvSpPr txBox="1"/>
          <p:nvPr/>
        </p:nvSpPr>
        <p:spPr>
          <a:xfrm>
            <a:off x="7326218" y="1488161"/>
            <a:ext cx="1343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Comitê Gestor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F6CA6D22-8B56-6E7D-A39C-746AC3505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03425" y="1771233"/>
            <a:ext cx="1766202" cy="220442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C67F5D7A-0826-C6E4-9AA8-F0AB6624C294}"/>
              </a:ext>
            </a:extLst>
          </p:cNvPr>
          <p:cNvSpPr txBox="1"/>
          <p:nvPr/>
        </p:nvSpPr>
        <p:spPr>
          <a:xfrm>
            <a:off x="490936" y="2157571"/>
            <a:ext cx="1785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E5DF44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25/38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F5B3230-6B1D-256C-2C1A-CAADB617E156}"/>
              </a:ext>
            </a:extLst>
          </p:cNvPr>
          <p:cNvSpPr txBox="1"/>
          <p:nvPr/>
        </p:nvSpPr>
        <p:spPr>
          <a:xfrm>
            <a:off x="2271726" y="2274752"/>
            <a:ext cx="1968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Professores e Tutores</a:t>
            </a: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F81A447A-ED32-9544-3D12-743BD4DAD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510" y="2575961"/>
            <a:ext cx="2711709" cy="227941"/>
          </a:xfrm>
          <a:prstGeom prst="rect">
            <a:avLst/>
          </a:prstGeom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7E3D1DFF-D9CA-5EF0-DC24-084348E61C82}"/>
              </a:ext>
            </a:extLst>
          </p:cNvPr>
          <p:cNvSpPr txBox="1"/>
          <p:nvPr/>
        </p:nvSpPr>
        <p:spPr>
          <a:xfrm>
            <a:off x="9540919" y="2734987"/>
            <a:ext cx="2290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E5DF44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+ de 50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F913CD0-215A-4A10-A7FD-E2DB90EE7D59}"/>
              </a:ext>
            </a:extLst>
          </p:cNvPr>
          <p:cNvSpPr txBox="1"/>
          <p:nvPr/>
        </p:nvSpPr>
        <p:spPr>
          <a:xfrm>
            <a:off x="8209319" y="2867060"/>
            <a:ext cx="1343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Orientadores</a:t>
            </a:r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C50ECD69-FC52-28C8-941B-AEF8B739FD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86526" y="3150132"/>
            <a:ext cx="1766202" cy="220442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30E8F29C-54F5-B1B8-427C-7A87BD66BF11}"/>
              </a:ext>
            </a:extLst>
          </p:cNvPr>
          <p:cNvSpPr txBox="1"/>
          <p:nvPr/>
        </p:nvSpPr>
        <p:spPr>
          <a:xfrm>
            <a:off x="613126" y="3847401"/>
            <a:ext cx="543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E5DF44"/>
                </a:solidFill>
                <a:latin typeface="Nasalization Rg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007F207-4ED9-4F34-6843-9ACFFE3ACE08}"/>
              </a:ext>
            </a:extLst>
          </p:cNvPr>
          <p:cNvSpPr txBox="1"/>
          <p:nvPr/>
        </p:nvSpPr>
        <p:spPr>
          <a:xfrm>
            <a:off x="1190548" y="3964582"/>
            <a:ext cx="1968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 de Apoio</a:t>
            </a: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19079CC7-9FDA-B9C1-C9BF-F008084BAD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332" y="4265791"/>
            <a:ext cx="2711709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1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E324CFA-4177-4C61-BB88-16A49BE9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383" y="260633"/>
            <a:ext cx="9751233" cy="2470376"/>
          </a:xfrm>
        </p:spPr>
        <p:txBody>
          <a:bodyPr/>
          <a:lstStyle/>
          <a:p>
            <a:r>
              <a:rPr lang="pt-BR" sz="6000" b="1" dirty="0">
                <a:solidFill>
                  <a:srgbClr val="E5DF44"/>
                </a:solidFill>
              </a:rPr>
              <a:t>&lt;Obrigado(a)&gt;</a:t>
            </a:r>
            <a:br>
              <a:rPr lang="pt-BR" sz="6000" b="1" dirty="0">
                <a:solidFill>
                  <a:srgbClr val="E5DF44"/>
                </a:solidFill>
              </a:rPr>
            </a:br>
            <a:endParaRPr lang="pt-BR" dirty="0"/>
          </a:p>
        </p:txBody>
      </p:sp>
      <p:sp>
        <p:nvSpPr>
          <p:cNvPr id="5" name="Google Shape;108;p6">
            <a:extLst>
              <a:ext uri="{FF2B5EF4-FFF2-40B4-BE49-F238E27FC236}">
                <a16:creationId xmlns:a16="http://schemas.microsoft.com/office/drawing/2014/main" id="{888DCC37-6920-484A-B262-7C2725F8B6EE}"/>
              </a:ext>
            </a:extLst>
          </p:cNvPr>
          <p:cNvSpPr txBox="1"/>
          <p:nvPr/>
        </p:nvSpPr>
        <p:spPr>
          <a:xfrm>
            <a:off x="4886250" y="1966263"/>
            <a:ext cx="347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E5DF44"/>
                </a:solidFill>
              </a:rPr>
              <a:t>Seu (XX</a:t>
            </a:r>
            <a:r>
              <a:rPr lang="pt-BR" sz="1600" b="1" dirty="0">
                <a:solidFill>
                  <a:srgbClr val="E5DF4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pt-BR" sz="1600" b="1" dirty="0">
                <a:solidFill>
                  <a:srgbClr val="E5DF44"/>
                </a:solidFill>
              </a:rPr>
              <a:t>XXXXX-XXXX</a:t>
            </a:r>
            <a:endParaRPr dirty="0">
              <a:solidFill>
                <a:srgbClr val="E5DF44"/>
              </a:solidFill>
            </a:endParaRPr>
          </a:p>
        </p:txBody>
      </p:sp>
      <p:sp>
        <p:nvSpPr>
          <p:cNvPr id="6" name="Google Shape;109;p6">
            <a:extLst>
              <a:ext uri="{FF2B5EF4-FFF2-40B4-BE49-F238E27FC236}">
                <a16:creationId xmlns:a16="http://schemas.microsoft.com/office/drawing/2014/main" id="{E7691C9B-787D-4E39-B6F4-56ACFB0F99A4}"/>
              </a:ext>
            </a:extLst>
          </p:cNvPr>
          <p:cNvSpPr txBox="1"/>
          <p:nvPr/>
        </p:nvSpPr>
        <p:spPr>
          <a:xfrm>
            <a:off x="4886250" y="2326362"/>
            <a:ext cx="347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E5DF44"/>
                </a:solidFill>
              </a:rPr>
              <a:t>seuemail</a:t>
            </a:r>
            <a:r>
              <a:rPr lang="pt-BR" sz="1600" b="1" dirty="0">
                <a:solidFill>
                  <a:srgbClr val="E5DF44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r>
              <a:rPr lang="pt-BR" sz="1600" b="1" dirty="0">
                <a:solidFill>
                  <a:srgbClr val="E5DF44"/>
                </a:solidFill>
              </a:rPr>
              <a:t>gmail.com</a:t>
            </a:r>
            <a:endParaRPr dirty="0">
              <a:solidFill>
                <a:srgbClr val="E5DF44"/>
              </a:solidFill>
            </a:endParaRPr>
          </a:p>
        </p:txBody>
      </p:sp>
      <p:pic>
        <p:nvPicPr>
          <p:cNvPr id="7" name="Google Shape;113;p6">
            <a:extLst>
              <a:ext uri="{FF2B5EF4-FFF2-40B4-BE49-F238E27FC236}">
                <a16:creationId xmlns:a16="http://schemas.microsoft.com/office/drawing/2014/main" id="{1D6681FA-207D-4376-9E58-F070ACF49AA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8824" y="2020642"/>
            <a:ext cx="257426" cy="25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4;p6">
            <a:extLst>
              <a:ext uri="{FF2B5EF4-FFF2-40B4-BE49-F238E27FC236}">
                <a16:creationId xmlns:a16="http://schemas.microsoft.com/office/drawing/2014/main" id="{65B8685A-788F-49E8-A951-2483C4BF85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6171" y="2432511"/>
            <a:ext cx="240079" cy="18721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807C70C-A158-4B25-9E2E-05B840B8A000}"/>
              </a:ext>
            </a:extLst>
          </p:cNvPr>
          <p:cNvSpPr txBox="1"/>
          <p:nvPr/>
        </p:nvSpPr>
        <p:spPr>
          <a:xfrm>
            <a:off x="4932992" y="2768971"/>
            <a:ext cx="1688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E5DF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Seu </a:t>
            </a:r>
            <a:r>
              <a:rPr lang="pt-BR" sz="1600" b="1" dirty="0" err="1">
                <a:solidFill>
                  <a:srgbClr val="E5DF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likedin</a:t>
            </a:r>
            <a:endParaRPr lang="pt-BR" sz="1600" b="1" dirty="0">
              <a:solidFill>
                <a:srgbClr val="E5DF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E50BCAF-EF0A-44F9-AB77-AA09AE92B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608" y="2802501"/>
            <a:ext cx="236624" cy="2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67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146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Nasalization Rg</vt:lpstr>
      <vt:lpstr>Wingdings</vt:lpstr>
      <vt:lpstr>Tema do Office</vt:lpstr>
      <vt:lpstr>MBA em Inteligência Artificial e Big Data</vt:lpstr>
      <vt:lpstr>A seguir alguns exemplos de slides</vt:lpstr>
      <vt:lpstr>Apresentação do PowerPoint</vt:lpstr>
      <vt:lpstr>Apresentação do PowerPoint</vt:lpstr>
      <vt:lpstr>Apresentação do PowerPoint</vt:lpstr>
      <vt:lpstr>&lt;Obrigado(a)&gt;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Agência Filomena</dc:creator>
  <cp:lastModifiedBy>Solange</cp:lastModifiedBy>
  <cp:revision>10</cp:revision>
  <dcterms:created xsi:type="dcterms:W3CDTF">2024-02-06T20:41:16Z</dcterms:created>
  <dcterms:modified xsi:type="dcterms:W3CDTF">2024-03-08T20:58:36Z</dcterms:modified>
</cp:coreProperties>
</file>